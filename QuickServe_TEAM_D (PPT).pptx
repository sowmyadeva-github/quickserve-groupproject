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4630400" cy="8229600"/>
  <p:notesSz cx="8229600" cy="14630400"/>
  <p:embeddedFontLst>
    <p:embeddedFont>
      <p:font typeface="HP Simplified Jpan" panose="020B0500000000000000" pitchFamily="34" charset="-128"/>
      <p:regular r:id="rId16"/>
    </p:embeddedFont>
    <p:embeddedFont>
      <p:font typeface="Inter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oomi Mishra" userId="ee12bf1da27b5cf7" providerId="LiveId" clId="{E253F58F-34F0-4E4B-B239-B1F3438106D2}"/>
    <pc:docChg chg="modSld">
      <pc:chgData name="Bhoomi Mishra" userId="ee12bf1da27b5cf7" providerId="LiveId" clId="{E253F58F-34F0-4E4B-B239-B1F3438106D2}" dt="2026-02-12T16:12:44.039" v="1" actId="2711"/>
      <pc:docMkLst>
        <pc:docMk/>
      </pc:docMkLst>
      <pc:sldChg chg="modSp mod">
        <pc:chgData name="Bhoomi Mishra" userId="ee12bf1da27b5cf7" providerId="LiveId" clId="{E253F58F-34F0-4E4B-B239-B1F3438106D2}" dt="2026-02-12T16:12:44.039" v="1" actId="2711"/>
        <pc:sldMkLst>
          <pc:docMk/>
          <pc:sldMk cId="0" sldId="257"/>
        </pc:sldMkLst>
        <pc:spChg chg="mod">
          <ac:chgData name="Bhoomi Mishra" userId="ee12bf1da27b5cf7" providerId="LiveId" clId="{E253F58F-34F0-4E4B-B239-B1F3438106D2}" dt="2026-02-12T16:12:30.440" v="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Bhoomi Mishra" userId="ee12bf1da27b5cf7" providerId="LiveId" clId="{E253F58F-34F0-4E4B-B239-B1F3438106D2}" dt="2026-02-12T16:12:44.039" v="1" actId="2711"/>
          <ac:spMkLst>
            <pc:docMk/>
            <pc:sldMk cId="0" sldId="257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062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Relationship Id="rId1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3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svg"/><Relationship Id="rId4" Type="http://schemas.openxmlformats.org/officeDocument/2006/relationships/image" Target="../media/image41.svg"/><Relationship Id="rId9" Type="http://schemas.openxmlformats.org/officeDocument/2006/relationships/image" Target="../media/image46.png"/><Relationship Id="rId14" Type="http://schemas.openxmlformats.org/officeDocument/2006/relationships/image" Target="../media/image51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008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QuickServe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149793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Localized Service Discovery &amp; Booking Application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89" y="5789507"/>
            <a:ext cx="7556421" cy="1648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by(TEAM D)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Bhoomi Mishra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Dasari Lavanya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Sowmya Deva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Indhu M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rPr>
              <a:t>Navya Sri R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61417"/>
            <a:ext cx="154912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29402"/>
            <a:ext cx="12769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78387"/>
            <a:ext cx="100250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HP Simplified Jpan" panose="020B0500000000000000" pitchFamily="34" charset="-128"/>
                <a:ea typeface="HP Simplified Jpan" panose="020B0500000000000000" pitchFamily="34" charset="-128"/>
                <a:cs typeface="Inter Bold" pitchFamily="34" charset="-120"/>
              </a:rPr>
              <a:t>Challenges in Local Service Booking</a:t>
            </a:r>
            <a:endParaRPr lang="en-US" sz="4450" dirty="0">
              <a:latin typeface="HP Simplified Jpan" panose="020B0500000000000000" pitchFamily="34" charset="-128"/>
              <a:ea typeface="HP Simplified Jpan" panose="020B0500000000000000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793790" y="242732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reliable local service providers remains a frustrating experience for millions of users. The current landscape lacks transparency, trust, and convenience, creating barriers that waste time and undermine confidence.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408283"/>
            <a:ext cx="3090505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224" y="3642717"/>
            <a:ext cx="2621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/>
                <a:ea typeface="Inter Bold" pitchFamily="34" charset="-122"/>
                <a:cs typeface="Inter Bold" pitchFamily="34" charset="-120"/>
              </a:rPr>
              <a:t>Discovery</a:t>
            </a: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Gap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28224" y="4133136"/>
            <a:ext cx="26216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finding reliable local service providers in your area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3408283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5543" y="3642717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Price Opacity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45543" y="4133136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transparent, upfront pricing information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408283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62982" y="3642717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Deficit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62982" y="4133136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proper review or rating system to verify quality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745986" y="3408283"/>
            <a:ext cx="3090624" cy="2047994"/>
          </a:xfrm>
          <a:prstGeom prst="roundRect">
            <a:avLst>
              <a:gd name="adj" fmla="val 465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80420" y="3642717"/>
            <a:ext cx="26217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Hassle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80420" y="4133136"/>
            <a:ext cx="26217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Time-consuming booking process with multiple phone calls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93790" y="5683091"/>
            <a:ext cx="6407944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224" y="5917525"/>
            <a:ext cx="32633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Platform Fragmentation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28224" y="640794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centralized platform connecting agencies and independent workers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683091"/>
            <a:ext cx="6408063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62982" y="5917525"/>
            <a:ext cx="29923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Accountability Issues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662982" y="6407944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trust and accountability mechanisms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862013"/>
            <a:ext cx="765453" cy="1046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051923"/>
            <a:ext cx="1235869" cy="292418"/>
          </a:xfrm>
          <a:prstGeom prst="roundRect">
            <a:avLst>
              <a:gd name="adj" fmla="val 19548"/>
            </a:avLst>
          </a:prstGeom>
          <a:solidFill>
            <a:srgbClr val="DADBF1"/>
          </a:solidFill>
          <a:ln/>
        </p:spPr>
      </p:sp>
      <p:sp>
        <p:nvSpPr>
          <p:cNvPr id="4" name="Text 1"/>
          <p:cNvSpPr/>
          <p:nvPr/>
        </p:nvSpPr>
        <p:spPr>
          <a:xfrm>
            <a:off x="895826" y="2102882"/>
            <a:ext cx="103179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93790" y="2395299"/>
            <a:ext cx="940403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Comprehensive Platform for Local Services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93790" y="3118247"/>
            <a:ext cx="13042821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transforms the local service booking experience by connecting users with trusted providers through an intelligent, secure, and transparent platform.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93790" y="3499842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0930" y="3499842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9" name="Text 6"/>
          <p:cNvSpPr/>
          <p:nvPr/>
        </p:nvSpPr>
        <p:spPr>
          <a:xfrm>
            <a:off x="1055251" y="36927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Discovery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55251" y="4034909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Location-based service discovery helps you find nearby trusted providers in seconds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78898" y="3499842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56038" y="3499842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3" name="Text 10"/>
          <p:cNvSpPr/>
          <p:nvPr/>
        </p:nvSpPr>
        <p:spPr>
          <a:xfrm>
            <a:off x="7640360" y="369272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Booking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640360" y="4034909"/>
            <a:ext cx="60033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booking system with instant scheduling confirmation and availability updates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93790" y="4831556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0930" y="4831556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7" name="Text 14"/>
          <p:cNvSpPr/>
          <p:nvPr/>
        </p:nvSpPr>
        <p:spPr>
          <a:xfrm>
            <a:off x="1055251" y="502443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&amp; Verification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55251" y="5366623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workers are verified with comprehensive ratings and authentic customer reviews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378898" y="4831556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56038" y="4831556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1" name="Text 18"/>
          <p:cNvSpPr/>
          <p:nvPr/>
        </p:nvSpPr>
        <p:spPr>
          <a:xfrm>
            <a:off x="7640360" y="502443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Payments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7640360" y="5366623"/>
            <a:ext cx="60033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online payment processing with multiple payment options and financial protection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3790" y="6163270"/>
            <a:ext cx="6457593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0930" y="6163270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5" name="Text 22"/>
          <p:cNvSpPr/>
          <p:nvPr/>
        </p:nvSpPr>
        <p:spPr>
          <a:xfrm>
            <a:off x="1055251" y="6356152"/>
            <a:ext cx="241827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Flexible Provider Types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1055251" y="6698337"/>
            <a:ext cx="6003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both individual independent workers and established service agencies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78898" y="6163270"/>
            <a:ext cx="6457712" cy="1204198"/>
          </a:xfrm>
          <a:prstGeom prst="roundRect">
            <a:avLst>
              <a:gd name="adj" fmla="val 9112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56038" y="6163270"/>
            <a:ext cx="91440" cy="1204198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29" name="Text 26"/>
          <p:cNvSpPr/>
          <p:nvPr/>
        </p:nvSpPr>
        <p:spPr>
          <a:xfrm>
            <a:off x="7640360" y="635615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Transparency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7640360" y="6698337"/>
            <a:ext cx="600336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Upfront pricing with no hidden fees and real-time service tracking from start to finish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8062" y="623887"/>
            <a:ext cx="3194804" cy="399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88062" y="1167051"/>
            <a:ext cx="13254276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streamlines the entire service booking journey from initial registration to final feedback, creating a seamless experience for all participants.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509" y="1488758"/>
            <a:ext cx="3265170" cy="60358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13570" y="1777008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513570" y="1978819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Text 4"/>
          <p:cNvSpPr/>
          <p:nvPr/>
        </p:nvSpPr>
        <p:spPr>
          <a:xfrm>
            <a:off x="9513570" y="2073116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Registration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513570" y="2344698"/>
            <a:ext cx="4436388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registers and selects their role: Client, Owner, or Worker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513570" y="2672239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9513570" y="2874050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8"/>
          <p:cNvSpPr/>
          <p:nvPr/>
        </p:nvSpPr>
        <p:spPr>
          <a:xfrm>
            <a:off x="9513570" y="2968347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Search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513570" y="3239929"/>
            <a:ext cx="4436388" cy="31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searches and books nearby services based on location and category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513570" y="3727252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513570" y="3929063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5" name="Text 12"/>
          <p:cNvSpPr/>
          <p:nvPr/>
        </p:nvSpPr>
        <p:spPr>
          <a:xfrm>
            <a:off x="9513570" y="4023360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Job Assignment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9513570" y="4294942"/>
            <a:ext cx="4436388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 receives the request and assigns the most suitable worker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513570" y="4622483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513570" y="4824293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9" name="Text 16"/>
          <p:cNvSpPr/>
          <p:nvPr/>
        </p:nvSpPr>
        <p:spPr>
          <a:xfrm>
            <a:off x="9513570" y="4918591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Delivery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9513570" y="5190173"/>
            <a:ext cx="4436388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 completes the service and confirms completion in the system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9513570" y="5517713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9513570" y="5719524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0"/>
          <p:cNvSpPr/>
          <p:nvPr/>
        </p:nvSpPr>
        <p:spPr>
          <a:xfrm>
            <a:off x="9513570" y="5813822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9513570" y="6085403"/>
            <a:ext cx="4436388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payment is processed through the platform's payment gateway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513570" y="6412944"/>
            <a:ext cx="127754" cy="159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9513570" y="6614755"/>
            <a:ext cx="4436388" cy="1524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7" name="Text 24"/>
          <p:cNvSpPr/>
          <p:nvPr/>
        </p:nvSpPr>
        <p:spPr>
          <a:xfrm>
            <a:off x="9513570" y="6709053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Feedback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513570" y="6980634"/>
            <a:ext cx="4436388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provides rating and detailed feedback to build trust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5318"/>
            <a:ext cx="6869549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Roles &amp; Perspectives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718072"/>
            <a:ext cx="13042821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supports four distinct user roles, each with tailored features designed to meet their specific needs and workflows.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84452"/>
            <a:ext cx="1690807" cy="16908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23112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93790" y="4690467"/>
            <a:ext cx="3068717" cy="268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Searches and books services easily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Makes secure online payments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real-time booking status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ratings and reviews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372" y="2284452"/>
            <a:ext cx="1690926" cy="169092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8372" y="423124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Owner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4118372" y="4690586"/>
            <a:ext cx="3068836" cy="2353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services and workers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booking requests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Assigns jobs to available workers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revenue and performance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3073" y="2284452"/>
            <a:ext cx="1690926" cy="169092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43073" y="423124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Worker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7443073" y="4690586"/>
            <a:ext cx="3068836" cy="201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Accepts assigned jobs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Completes services professionally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Tracks personal earnings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reputation through ratings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774" y="2284452"/>
            <a:ext cx="1690926" cy="169092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67774" y="423124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10767774" y="4690586"/>
            <a:ext cx="3068836" cy="2689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Verifies users and service providers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all bookings and payments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Manages service categories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disputes and reports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6882" y="785217"/>
            <a:ext cx="1202293" cy="328613"/>
          </a:xfrm>
          <a:prstGeom prst="roundRect">
            <a:avLst>
              <a:gd name="adj" fmla="val 19044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562" y="874990"/>
            <a:ext cx="148947" cy="1489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01923" y="841058"/>
            <a:ext cx="755571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66882" y="1174909"/>
            <a:ext cx="4656177" cy="581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766882" y="1986201"/>
            <a:ext cx="13096637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delivers a comprehensive suite of features designed to create trust, convenience, and transparency throughout the service booking experience.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66882" y="2700695"/>
            <a:ext cx="3159443" cy="2566630"/>
          </a:xfrm>
          <a:prstGeom prst="roundRect">
            <a:avLst>
              <a:gd name="adj" fmla="val 304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715" y="2894528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4306" y="3048119"/>
            <a:ext cx="251341" cy="25134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715" y="3606046"/>
            <a:ext cx="23280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Role-Based Login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60715" y="3988594"/>
            <a:ext cx="2771775" cy="108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access features specific to their roles, ensuring tailored experiences and enhanced security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079200" y="2700695"/>
            <a:ext cx="3159562" cy="2566630"/>
          </a:xfrm>
          <a:prstGeom prst="roundRect">
            <a:avLst>
              <a:gd name="adj" fmla="val 304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73034" y="2894528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6625" y="3048119"/>
            <a:ext cx="251341" cy="2513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73034" y="3606046"/>
            <a:ext cx="2653070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Location-Based Search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273034" y="3988594"/>
            <a:ext cx="2771894" cy="1084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 are easily discoverable based on your geographic location for maximum convenience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7391638" y="2700695"/>
            <a:ext cx="3159443" cy="2566630"/>
          </a:xfrm>
          <a:prstGeom prst="roundRect">
            <a:avLst>
              <a:gd name="adj" fmla="val 304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585472" y="2894528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39062" y="3048119"/>
            <a:ext cx="251341" cy="25134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85472" y="3606046"/>
            <a:ext cx="23280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Online Booking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585472" y="3988594"/>
            <a:ext cx="2771775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 can quickly book services through the app with real-time availability updates</a:t>
            </a:r>
            <a:endParaRPr lang="en-US" sz="1450" dirty="0"/>
          </a:p>
        </p:txBody>
      </p:sp>
      <p:sp>
        <p:nvSpPr>
          <p:cNvPr id="22" name="Shape 16"/>
          <p:cNvSpPr/>
          <p:nvPr/>
        </p:nvSpPr>
        <p:spPr>
          <a:xfrm>
            <a:off x="10703957" y="2700695"/>
            <a:ext cx="3159562" cy="2566630"/>
          </a:xfrm>
          <a:prstGeom prst="roundRect">
            <a:avLst>
              <a:gd name="adj" fmla="val 304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897791" y="2894528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51381" y="3048119"/>
            <a:ext cx="251341" cy="25134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97791" y="3606046"/>
            <a:ext cx="23280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Payment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0897791" y="3988594"/>
            <a:ext cx="2771894" cy="813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online transactions protect users' financial information during all bookings</a:t>
            </a:r>
            <a:endParaRPr lang="en-US" sz="1450" dirty="0"/>
          </a:p>
        </p:txBody>
      </p:sp>
      <p:sp>
        <p:nvSpPr>
          <p:cNvPr id="27" name="Shape 20"/>
          <p:cNvSpPr/>
          <p:nvPr/>
        </p:nvSpPr>
        <p:spPr>
          <a:xfrm>
            <a:off x="766882" y="5420201"/>
            <a:ext cx="6471880" cy="2024182"/>
          </a:xfrm>
          <a:prstGeom prst="roundRect">
            <a:avLst>
              <a:gd name="adj" fmla="val 38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60715" y="5614035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14306" y="5767626"/>
            <a:ext cx="251341" cy="25134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0715" y="6325553"/>
            <a:ext cx="23280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Updates</a:t>
            </a:r>
            <a:endParaRPr lang="en-US" sz="1800" dirty="0"/>
          </a:p>
        </p:txBody>
      </p:sp>
      <p:sp>
        <p:nvSpPr>
          <p:cNvPr id="31" name="Text 23"/>
          <p:cNvSpPr/>
          <p:nvPr/>
        </p:nvSpPr>
        <p:spPr>
          <a:xfrm>
            <a:off x="960715" y="6708100"/>
            <a:ext cx="6084213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notifications about bookings, changes, and service status keep everyone informed</a:t>
            </a:r>
            <a:endParaRPr lang="en-US" sz="1450" dirty="0"/>
          </a:p>
        </p:txBody>
      </p:sp>
      <p:sp>
        <p:nvSpPr>
          <p:cNvPr id="32" name="Shape 24"/>
          <p:cNvSpPr/>
          <p:nvPr/>
        </p:nvSpPr>
        <p:spPr>
          <a:xfrm>
            <a:off x="7391638" y="5420201"/>
            <a:ext cx="6471880" cy="2024182"/>
          </a:xfrm>
          <a:prstGeom prst="roundRect">
            <a:avLst>
              <a:gd name="adj" fmla="val 386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585472" y="5614035"/>
            <a:ext cx="558641" cy="558641"/>
          </a:xfrm>
          <a:prstGeom prst="roundRect">
            <a:avLst>
              <a:gd name="adj" fmla="val 16366657"/>
            </a:avLst>
          </a:prstGeom>
          <a:solidFill>
            <a:srgbClr val="4950BC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39062" y="5767626"/>
            <a:ext cx="251341" cy="25134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85472" y="6325553"/>
            <a:ext cx="2328029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Ratings &amp; Reviews</a:t>
            </a:r>
            <a:endParaRPr lang="en-US" sz="1800" dirty="0"/>
          </a:p>
        </p:txBody>
      </p:sp>
      <p:sp>
        <p:nvSpPr>
          <p:cNvPr id="36" name="Text 27"/>
          <p:cNvSpPr/>
          <p:nvPr/>
        </p:nvSpPr>
        <p:spPr>
          <a:xfrm>
            <a:off x="7585472" y="6708100"/>
            <a:ext cx="6084213" cy="542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share their experiences, helping others choose trusted service providers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71" y="1123621"/>
            <a:ext cx="5104209" cy="672911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743664"/>
            <a:ext cx="5089922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Workflow</a:t>
            </a:r>
            <a:endParaRPr lang="en-US" sz="3750" dirty="0"/>
          </a:p>
        </p:txBody>
      </p:sp>
      <p:sp>
        <p:nvSpPr>
          <p:cNvPr id="5" name="Text 1"/>
          <p:cNvSpPr/>
          <p:nvPr/>
        </p:nvSpPr>
        <p:spPr>
          <a:xfrm>
            <a:off x="6280190" y="1591866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application is designed with distinct workflows for each user type, ensuring an optimized experience from landing to completion.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280190" y="251055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Flow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280190" y="2975610"/>
            <a:ext cx="3543062" cy="1426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introduction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selection (Customer / Provider / Admin)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or register for new users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role-based dashboard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80190" y="433756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 Workflow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280190" y="4802620"/>
            <a:ext cx="3543062" cy="199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services by category or location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detailed service information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preferred date and time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booking and make payment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booking status in real-time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301168" y="2510552"/>
            <a:ext cx="314432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Provider Workflow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301168" y="2975610"/>
            <a:ext cx="3543062" cy="1712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and update service offerings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availability calendar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incoming booking requests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 or reject bookings based on capacity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worker assignments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301168" y="4680105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Workflow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10301168" y="5145163"/>
            <a:ext cx="3543062" cy="1426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all system users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or block service providers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 all platform bookings</a:t>
            </a:r>
            <a:endParaRPr lang="en-US" sz="1500" dirty="0"/>
          </a:p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disputes and handle reports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301" y="250751"/>
            <a:ext cx="4451992" cy="7605063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93790" y="755928"/>
            <a:ext cx="1265515" cy="307658"/>
          </a:xfrm>
          <a:prstGeom prst="roundRect">
            <a:avLst>
              <a:gd name="adj" fmla="val 18579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03446" y="814507"/>
            <a:ext cx="10462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793790" y="1114544"/>
            <a:ext cx="426779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7" name="Text 3"/>
          <p:cNvSpPr/>
          <p:nvPr/>
        </p:nvSpPr>
        <p:spPr>
          <a:xfrm>
            <a:off x="793790" y="1837492"/>
            <a:ext cx="755642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follows a layered architecture pattern to ensure clean code structure, maintainability, and scalability as the platform grows.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457212"/>
            <a:ext cx="510302" cy="1143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31608" y="262723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Controller Layer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431608" y="2969419"/>
            <a:ext cx="691860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all HTTP requests, receives data from the frontend, and sends appropriate responses back to users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41" y="3743206"/>
            <a:ext cx="510302" cy="1143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86758" y="391322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Layer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686758" y="4255413"/>
            <a:ext cx="6663452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core business logic, processes booking rules and workflows, and validates all incoming data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4092" y="5029200"/>
            <a:ext cx="510302" cy="1143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941909" y="5199221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Repository Layer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941909" y="5541407"/>
            <a:ext cx="640830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Interacts directly with the database and performs all CRUD operations using Java Persistence API (JPA)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243" y="6315194"/>
            <a:ext cx="510302" cy="11430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197060" y="648521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(MySQL)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2197060" y="6827401"/>
            <a:ext cx="61531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all user details, service information, booking records, and transaction history securely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737" y="745808"/>
            <a:ext cx="3504248" cy="437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54737" y="1356955"/>
            <a:ext cx="13120926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is built using modern, industry-standard technologies that ensure reliability, performance, and scalability.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54737" y="1733074"/>
            <a:ext cx="4369951" cy="1497449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9977" y="1748314"/>
            <a:ext cx="560665" cy="1466969"/>
          </a:xfrm>
          <a:prstGeom prst="roundRect">
            <a:avLst>
              <a:gd name="adj" fmla="val 7238"/>
            </a:avLst>
          </a:prstGeom>
          <a:solidFill>
            <a:srgbClr val="DAD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427" y="2376726"/>
            <a:ext cx="210145" cy="2101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201" y="1888450"/>
            <a:ext cx="17521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17201" y="2194084"/>
            <a:ext cx="355211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Semantic structure of all web pages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417201" y="2453283"/>
            <a:ext cx="355211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Modern styling and responsive layout design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417201" y="2712482"/>
            <a:ext cx="3552111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Handles dynamic user interactions and REST API calls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737" y="3317081"/>
            <a:ext cx="4369951" cy="1419582"/>
          </a:xfrm>
          <a:prstGeom prst="roundRect">
            <a:avLst>
              <a:gd name="adj" fmla="val 4147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9977" y="3332321"/>
            <a:ext cx="560665" cy="1389102"/>
          </a:xfrm>
          <a:prstGeom prst="roundRect">
            <a:avLst>
              <a:gd name="adj" fmla="val 7238"/>
            </a:avLst>
          </a:prstGeom>
          <a:solidFill>
            <a:srgbClr val="DADBF1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1427" y="3921800"/>
            <a:ext cx="210145" cy="21014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201" y="3472458"/>
            <a:ext cx="17521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417201" y="3778091"/>
            <a:ext cx="3552111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Core programming language for business logic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417201" y="4218623"/>
            <a:ext cx="3552111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Powerful framework for building RESTful APIs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54737" y="4823222"/>
            <a:ext cx="4369951" cy="979051"/>
          </a:xfrm>
          <a:prstGeom prst="roundRect">
            <a:avLst>
              <a:gd name="adj" fmla="val 601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69977" y="4838462"/>
            <a:ext cx="560665" cy="948571"/>
          </a:xfrm>
          <a:prstGeom prst="roundRect">
            <a:avLst>
              <a:gd name="adj" fmla="val 7238"/>
            </a:avLst>
          </a:prstGeom>
          <a:solidFill>
            <a:srgbClr val="DADBF1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1427" y="5207675"/>
            <a:ext cx="210145" cy="21014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17201" y="4978598"/>
            <a:ext cx="17521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417201" y="5284232"/>
            <a:ext cx="3552111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Robust relational database for storing all application data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54737" y="5888831"/>
            <a:ext cx="4369951" cy="1497449"/>
          </a:xfrm>
          <a:prstGeom prst="roundRect">
            <a:avLst>
              <a:gd name="adj" fmla="val 3931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69977" y="5904071"/>
            <a:ext cx="560665" cy="1466969"/>
          </a:xfrm>
          <a:prstGeom prst="roundRect">
            <a:avLst>
              <a:gd name="adj" fmla="val 7238"/>
            </a:avLst>
          </a:prstGeom>
          <a:solidFill>
            <a:srgbClr val="DADBF1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1427" y="6532483"/>
            <a:ext cx="210145" cy="21014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201" y="6044208"/>
            <a:ext cx="175212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Development Tools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417201" y="6349841"/>
            <a:ext cx="355211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 / IntelliJ IDEA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Code editors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417201" y="6609040"/>
            <a:ext cx="3552111" cy="181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Postman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API testing and validation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417201" y="6868239"/>
            <a:ext cx="3552111" cy="362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Maven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Dependency management and build automation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5859" y="2246711"/>
            <a:ext cx="7933114" cy="4390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485"/>
            <a:ext cx="759392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Pages in Action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78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QuickServe's intuitive design and streamlined user flows through key application screens, ensuring a smooth journey for all roles.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68848"/>
            <a:ext cx="1767840" cy="10925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544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Login &amp; Registration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035272"/>
            <a:ext cx="304800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 and secure entry point for all users, supporting seamless sign-up and login with role selection.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3168848"/>
            <a:ext cx="1767840" cy="1092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4544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Booking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035272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 can easily search for services, view provider details, and book appointments in real-time within their local area.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3168848"/>
            <a:ext cx="1767840" cy="1092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45448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Worker Dashboard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5035272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Workers manage their assigned jobs, track earnings, update availability, and view performance metrics.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3168848"/>
            <a:ext cx="1767840" cy="1092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4544854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&amp; Owner Panels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389602"/>
            <a:ext cx="30481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Administrators and Owners have dedicated dashboards to manage users, services, finances, and platform operations.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5571"/>
            <a:ext cx="1428750" cy="317778"/>
          </a:xfrm>
          <a:prstGeom prst="roundRect">
            <a:avLst>
              <a:gd name="adj" fmla="val 19187"/>
            </a:avLst>
          </a:prstGeom>
          <a:solidFill>
            <a:srgbClr val="DADB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2613" y="841891"/>
            <a:ext cx="145137" cy="1451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0259" y="809982"/>
            <a:ext cx="99345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93790" y="1131332"/>
            <a:ext cx="483870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Enhancements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1915954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roadmap includes powerful features that will elevate QuickServe into a comprehensive, world-class local services marketplace platform.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93790" y="2340412"/>
            <a:ext cx="3151823" cy="3027759"/>
          </a:xfrm>
          <a:prstGeom prst="roundRect">
            <a:avLst>
              <a:gd name="adj" fmla="val 25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82861" y="252948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2523" y="2679144"/>
            <a:ext cx="244912" cy="244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2861" y="3218974"/>
            <a:ext cx="2773680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Payment Gateway Integration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82861" y="3872984"/>
            <a:ext cx="2773680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Integrating a comprehensive online payment gateway will streamline transactions and support multiple payment methods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090749" y="2340412"/>
            <a:ext cx="3151823" cy="3027759"/>
          </a:xfrm>
          <a:prstGeom prst="roundRect">
            <a:avLst>
              <a:gd name="adj" fmla="val 25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79821" y="252948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29482" y="2679144"/>
            <a:ext cx="244912" cy="244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279821" y="3218974"/>
            <a:ext cx="2773680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Ratings System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4279821" y="3872984"/>
            <a:ext cx="2773680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Expanding ratings and reviews with verified badges will improve service provider transparency and trust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387709" y="2340412"/>
            <a:ext cx="3151823" cy="3027759"/>
          </a:xfrm>
          <a:prstGeom prst="roundRect">
            <a:avLst>
              <a:gd name="adj" fmla="val 25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576780" y="252948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6442" y="2679144"/>
            <a:ext cx="244912" cy="2449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76780" y="3218974"/>
            <a:ext cx="2773680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 &amp; SMS Notifications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7576780" y="3872984"/>
            <a:ext cx="2773680" cy="1044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Implementing multi-channel notifications will keep users informed of important updates instantly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10684669" y="2340412"/>
            <a:ext cx="3151942" cy="3027759"/>
          </a:xfrm>
          <a:prstGeom prst="roundRect">
            <a:avLst>
              <a:gd name="adj" fmla="val 251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873740" y="2529483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023402" y="2679144"/>
            <a:ext cx="244912" cy="244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873740" y="3218974"/>
            <a:ext cx="271545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Availability Updates</a:t>
            </a:r>
            <a:endParaRPr lang="en-US" sz="1750" dirty="0"/>
          </a:p>
        </p:txBody>
      </p:sp>
      <p:sp>
        <p:nvSpPr>
          <p:cNvPr id="26" name="Text 19"/>
          <p:cNvSpPr/>
          <p:nvPr/>
        </p:nvSpPr>
        <p:spPr>
          <a:xfrm>
            <a:off x="10873740" y="3589496"/>
            <a:ext cx="2773799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Providing real-time availability will enhance user convenience and reduce booking conflicts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93790" y="5513308"/>
            <a:ext cx="6448782" cy="1960602"/>
          </a:xfrm>
          <a:prstGeom prst="roundRect">
            <a:avLst>
              <a:gd name="adj" fmla="val 38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82861" y="570237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2523" y="5852041"/>
            <a:ext cx="244912" cy="2449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82861" y="63918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Native Mobile App</a:t>
            </a:r>
            <a:endParaRPr lang="en-US" sz="1750" dirty="0"/>
          </a:p>
        </p:txBody>
      </p:sp>
      <p:sp>
        <p:nvSpPr>
          <p:cNvPr id="31" name="Text 23"/>
          <p:cNvSpPr/>
          <p:nvPr/>
        </p:nvSpPr>
        <p:spPr>
          <a:xfrm>
            <a:off x="982861" y="6762393"/>
            <a:ext cx="6070640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Developing iOS and Android applications will increase accessibility for users on the go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7387709" y="5513308"/>
            <a:ext cx="6448901" cy="1960602"/>
          </a:xfrm>
          <a:prstGeom prst="roundRect">
            <a:avLst>
              <a:gd name="adj" fmla="val 388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576780" y="5702379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4950BC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26442" y="5852041"/>
            <a:ext cx="244912" cy="2449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76780" y="639187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Deployment</a:t>
            </a:r>
            <a:endParaRPr lang="en-US" sz="1750" dirty="0"/>
          </a:p>
        </p:txBody>
      </p:sp>
      <p:sp>
        <p:nvSpPr>
          <p:cNvPr id="36" name="Text 27"/>
          <p:cNvSpPr/>
          <p:nvPr/>
        </p:nvSpPr>
        <p:spPr>
          <a:xfrm>
            <a:off x="7576780" y="6762393"/>
            <a:ext cx="6070759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cloud infrastructure will ensure scalability, reliability, and performance as demand grows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49379"/>
            <a:ext cx="4820007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793790" y="1597581"/>
            <a:ext cx="75564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is positioned to revolutionize the local service industry, offering a powerful platform for efficiency and growth.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793790" y="2352437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391364" y="2418636"/>
            <a:ext cx="347829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Seamless Service Experience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391364" y="2818090"/>
            <a:ext cx="695884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simplifies the booking, management, and delivery of local services for all users.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3790" y="3716298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91364" y="3782497"/>
            <a:ext cx="315837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Role-Optimized Workflows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391364" y="4181951"/>
            <a:ext cx="695884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features and dedicated interfaces empower clients, owners, and workers for maximum efficiency.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93790" y="5080159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91364" y="5146357"/>
            <a:ext cx="31678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Robust &amp; Scalable Platform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391364" y="5545812"/>
            <a:ext cx="695884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modern, industry-standard technologies to ensure reliability, performance, and future expansion.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3790" y="6444020"/>
            <a:ext cx="433745" cy="433745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91364" y="6510218"/>
            <a:ext cx="318051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Vision for Growth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391364" y="6909673"/>
            <a:ext cx="6958846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roadmap for continuous enhancement and innovation, securing market leadership.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46471"/>
            <a:ext cx="67959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 for Your Time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9541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attention and valuable insights during this presentation.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2763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QuickServe is designed to transform local services, and we are excited about its potential.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25732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 forward to discussing how QuickServe can benefit your organization.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1233</Words>
  <Application>Microsoft Office PowerPoint</Application>
  <PresentationFormat>Custom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HP Simplified Jpan</vt:lpstr>
      <vt:lpstr>Arial</vt:lpstr>
      <vt:lpstr>Inter</vt:lpstr>
      <vt:lpstr>Inter Light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Bhoomi Mishra</dc:creator>
  <cp:lastModifiedBy>Indhu M</cp:lastModifiedBy>
  <cp:revision>3</cp:revision>
  <dcterms:created xsi:type="dcterms:W3CDTF">2026-02-12T16:07:34Z</dcterms:created>
  <dcterms:modified xsi:type="dcterms:W3CDTF">2026-03-25T15:00:50Z</dcterms:modified>
</cp:coreProperties>
</file>